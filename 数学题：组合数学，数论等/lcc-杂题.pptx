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62" r:id="rId5"/>
    <p:sldId id="264" r:id="rId6"/>
    <p:sldId id="258" r:id="rId7"/>
    <p:sldId id="265" r:id="rId8"/>
    <p:sldId id="259" r:id="rId9"/>
    <p:sldId id="266" r:id="rId10"/>
    <p:sldId id="260" r:id="rId11"/>
    <p:sldId id="261" r:id="rId12"/>
    <p:sldId id="267" r:id="rId13"/>
    <p:sldId id="268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1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PKU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9144000" cy="686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CC33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CC3300"/>
          </a:solidFill>
          <a:latin typeface="Times New Roman" pitchFamily="18" charset="0"/>
          <a:ea typeface="华文新魏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CC3300"/>
          </a:solidFill>
          <a:latin typeface="Times New Roman" pitchFamily="18" charset="0"/>
          <a:ea typeface="华文新魏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CC3300"/>
          </a:solidFill>
          <a:latin typeface="Times New Roman" pitchFamily="18" charset="0"/>
          <a:ea typeface="华文新魏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CC3300"/>
          </a:solidFill>
          <a:latin typeface="Times New Roman" pitchFamily="18" charset="0"/>
          <a:ea typeface="华文新魏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CC3300"/>
          </a:solidFill>
          <a:latin typeface="Times New Roman" pitchFamily="18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CC3300"/>
          </a:solidFill>
          <a:latin typeface="Times New Roman" pitchFamily="18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CC3300"/>
          </a:solidFill>
          <a:latin typeface="Times New Roman" pitchFamily="18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CC3300"/>
          </a:solidFill>
          <a:latin typeface="Times New Roman" pitchFamily="18" charset="0"/>
          <a:ea typeface="华文新魏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ccycc@qq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ACM</a:t>
            </a:r>
            <a:r>
              <a:rPr lang="zh-CN" altLang="en-US" dirty="0" smtClean="0"/>
              <a:t>中数学类的杂题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400" dirty="0" smtClean="0"/>
              <a:t>北京大学</a:t>
            </a:r>
            <a:r>
              <a:rPr lang="en-US" altLang="zh-CN" sz="2400" dirty="0" smtClean="0"/>
              <a:t>ACM</a:t>
            </a:r>
            <a:r>
              <a:rPr lang="zh-CN" altLang="en-US" sz="2400" dirty="0" smtClean="0"/>
              <a:t>队</a:t>
            </a:r>
            <a:endParaRPr lang="en-US" altLang="zh-CN" sz="2400" dirty="0" smtClean="0"/>
          </a:p>
          <a:p>
            <a:r>
              <a:rPr lang="zh-CN" altLang="en-US" sz="2400" dirty="0" smtClean="0"/>
              <a:t>李晔晨</a:t>
            </a:r>
            <a:endParaRPr lang="en-US" altLang="zh-CN" sz="2400" dirty="0" smtClean="0"/>
          </a:p>
          <a:p>
            <a:r>
              <a:rPr lang="en-US" altLang="zh-CN" sz="2400" dirty="0" smtClean="0">
                <a:hlinkClick r:id="rId2"/>
              </a:rPr>
              <a:t>lccycc@qq.com</a:t>
            </a:r>
            <a:endParaRPr lang="en-US" altLang="zh-CN" sz="2400" dirty="0" smtClean="0"/>
          </a:p>
          <a:p>
            <a:r>
              <a:rPr lang="en-US" altLang="zh-CN" sz="1600" dirty="0" smtClean="0"/>
              <a:t>hi.baidu.com/</a:t>
            </a:r>
            <a:r>
              <a:rPr lang="en-US" altLang="zh-CN" sz="1600" dirty="0" err="1" smtClean="0"/>
              <a:t>lccycc_acm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约瑟夫问题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n</a:t>
            </a:r>
            <a:r>
              <a:rPr lang="zh-CN" altLang="en-US" dirty="0" smtClean="0"/>
              <a:t>人编号</a:t>
            </a:r>
            <a:r>
              <a:rPr lang="en-US" altLang="zh-CN" dirty="0" smtClean="0"/>
              <a:t>1..n</a:t>
            </a:r>
            <a:r>
              <a:rPr lang="zh-CN" altLang="en-US" dirty="0" smtClean="0"/>
              <a:t>围成一个环 轮流报数 每次报到</a:t>
            </a:r>
            <a:r>
              <a:rPr lang="en-US" altLang="zh-CN" dirty="0" smtClean="0"/>
              <a:t>m</a:t>
            </a:r>
            <a:r>
              <a:rPr lang="zh-CN" altLang="en-US" dirty="0" smtClean="0"/>
              <a:t>的出列，求最后留下的人的编号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朴素算法</a:t>
            </a:r>
            <a:r>
              <a:rPr lang="en-US" altLang="zh-CN" dirty="0" smtClean="0"/>
              <a:t>O(n*m)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约瑟夫问题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1..n</a:t>
            </a:r>
            <a:r>
              <a:rPr lang="zh-CN" altLang="en-US" dirty="0" smtClean="0"/>
              <a:t>的环 第</a:t>
            </a:r>
            <a:r>
              <a:rPr lang="en-US" altLang="zh-CN" dirty="0" smtClean="0"/>
              <a:t>m</a:t>
            </a:r>
            <a:r>
              <a:rPr lang="zh-CN" altLang="en-US" dirty="0" smtClean="0"/>
              <a:t>个人出列</a:t>
            </a:r>
            <a:endParaRPr lang="en-US" altLang="zh-CN" dirty="0" smtClean="0"/>
          </a:p>
          <a:p>
            <a:r>
              <a:rPr lang="zh-CN" altLang="en-US" dirty="0" smtClean="0"/>
              <a:t>剩下的</a:t>
            </a:r>
            <a:r>
              <a:rPr lang="en-US" altLang="zh-CN" dirty="0" smtClean="0"/>
              <a:t>n-1</a:t>
            </a:r>
            <a:r>
              <a:rPr lang="zh-CN" altLang="en-US" dirty="0" smtClean="0"/>
              <a:t>个人 可以看成是</a:t>
            </a:r>
            <a:r>
              <a:rPr lang="en-US" altLang="zh-CN" dirty="0" smtClean="0"/>
              <a:t>m+1..n, 1..m-1</a:t>
            </a:r>
            <a:r>
              <a:rPr lang="zh-CN" altLang="en-US" dirty="0" smtClean="0"/>
              <a:t>的环</a:t>
            </a:r>
            <a:endParaRPr lang="en-US" altLang="zh-CN" dirty="0" smtClean="0"/>
          </a:p>
          <a:p>
            <a:r>
              <a:rPr lang="zh-CN" altLang="en-US" dirty="0" smtClean="0"/>
              <a:t>设</a:t>
            </a:r>
            <a:r>
              <a:rPr lang="en-US" altLang="zh-CN" dirty="0" smtClean="0"/>
              <a:t>Y(</a:t>
            </a:r>
            <a:r>
              <a:rPr lang="en-US" altLang="zh-CN" dirty="0" err="1" smtClean="0"/>
              <a:t>n,m</a:t>
            </a:r>
            <a:r>
              <a:rPr lang="en-US" altLang="zh-CN" dirty="0" smtClean="0"/>
              <a:t>)</a:t>
            </a:r>
            <a:r>
              <a:rPr lang="zh-CN" altLang="en-US" dirty="0" smtClean="0"/>
              <a:t>表示最后留下的人</a:t>
            </a:r>
            <a:r>
              <a:rPr lang="en-US" altLang="zh-CN" dirty="0" smtClean="0"/>
              <a:t>id</a:t>
            </a:r>
          </a:p>
          <a:p>
            <a:r>
              <a:rPr lang="en-US" altLang="zh-CN" dirty="0" smtClean="0"/>
              <a:t>Y(</a:t>
            </a:r>
            <a:r>
              <a:rPr lang="en-US" altLang="zh-CN" dirty="0" err="1" smtClean="0"/>
              <a:t>n,m</a:t>
            </a:r>
            <a:r>
              <a:rPr lang="en-US" altLang="zh-CN" dirty="0" smtClean="0"/>
              <a:t>) =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Y(n-1, m) + m</a:t>
            </a:r>
            <a:r>
              <a:rPr lang="zh-CN" altLang="en-US" dirty="0" smtClean="0"/>
              <a:t>）</a:t>
            </a:r>
            <a:r>
              <a:rPr lang="en-US" altLang="zh-CN" dirty="0" smtClean="0"/>
              <a:t>%n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思考：可以更快么？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过桥问题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 smtClean="0"/>
              <a:t>夜里</a:t>
            </a:r>
            <a:r>
              <a:rPr lang="en-US" b="0" dirty="0" smtClean="0"/>
              <a:t>n</a:t>
            </a:r>
            <a:r>
              <a:rPr lang="zh-CN" altLang="en-US" b="0" dirty="0" smtClean="0"/>
              <a:t>个人过桥，只有一个手电筒</a:t>
            </a:r>
            <a:endParaRPr lang="en-US" altLang="zh-CN" b="0" dirty="0" smtClean="0"/>
          </a:p>
          <a:p>
            <a:r>
              <a:rPr lang="zh-CN" altLang="en-US" b="0" dirty="0" smtClean="0"/>
              <a:t>每个人有一个过桥时间</a:t>
            </a:r>
            <a:r>
              <a:rPr lang="en-US" altLang="zh-CN" b="0" dirty="0" err="1" smtClean="0"/>
              <a:t>ai</a:t>
            </a:r>
            <a:r>
              <a:rPr lang="en-US" altLang="zh-CN" b="0" dirty="0" smtClean="0"/>
              <a:t>,</a:t>
            </a:r>
            <a:r>
              <a:rPr lang="zh-CN" altLang="en-US" b="0" dirty="0" smtClean="0"/>
              <a:t>必须两个人过去再由一个将手电筒拿回来，过桥时间由两人中慢的决定</a:t>
            </a:r>
            <a:endParaRPr lang="en-US" altLang="zh-CN" b="0" dirty="0" smtClean="0"/>
          </a:p>
          <a:p>
            <a:r>
              <a:rPr lang="zh-CN" altLang="en-US" b="0" dirty="0" smtClean="0"/>
              <a:t>求最小全部通过时间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过桥问题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0" dirty="0" smtClean="0"/>
              <a:t>当</a:t>
            </a:r>
            <a:r>
              <a:rPr lang="en-US" altLang="zh-CN" sz="2400" b="0" dirty="0" smtClean="0"/>
              <a:t>n&gt;=4 </a:t>
            </a:r>
            <a:r>
              <a:rPr lang="zh-CN" altLang="en-US" sz="2400" b="0" dirty="0" smtClean="0"/>
              <a:t>考虑最慢的</a:t>
            </a:r>
            <a:r>
              <a:rPr lang="en-US" altLang="zh-CN" sz="2400" b="0" dirty="0" smtClean="0"/>
              <a:t>2</a:t>
            </a:r>
            <a:r>
              <a:rPr lang="zh-CN" altLang="en-US" sz="2400" b="0" dirty="0" smtClean="0"/>
              <a:t>个 有</a:t>
            </a:r>
            <a:r>
              <a:rPr lang="en-US" altLang="zh-CN" sz="2400" b="0" dirty="0" smtClean="0"/>
              <a:t>2</a:t>
            </a:r>
            <a:r>
              <a:rPr lang="zh-CN" altLang="en-US" sz="2400" b="0" dirty="0" smtClean="0"/>
              <a:t>种情况</a:t>
            </a:r>
          </a:p>
          <a:p>
            <a:r>
              <a:rPr lang="en-US" altLang="zh-CN" sz="2400" b="0" dirty="0" smtClean="0"/>
              <a:t>1 </a:t>
            </a:r>
            <a:r>
              <a:rPr lang="zh-CN" altLang="en-US" sz="2400" b="0" dirty="0" smtClean="0"/>
              <a:t>都由最快的陪过去</a:t>
            </a:r>
          </a:p>
          <a:p>
            <a:r>
              <a:rPr lang="en-US" altLang="zh-CN" sz="2400" b="0" dirty="0" smtClean="0"/>
              <a:t>2 </a:t>
            </a:r>
            <a:r>
              <a:rPr lang="zh-CN" altLang="en-US" sz="2400" b="0" dirty="0" smtClean="0"/>
              <a:t>最快的</a:t>
            </a:r>
            <a:r>
              <a:rPr lang="en-US" altLang="zh-CN" sz="2400" b="0" dirty="0" smtClean="0"/>
              <a:t>2</a:t>
            </a:r>
            <a:r>
              <a:rPr lang="zh-CN" altLang="en-US" sz="2400" b="0" dirty="0" smtClean="0"/>
              <a:t>个先过去 再回来</a:t>
            </a:r>
            <a:r>
              <a:rPr lang="en-US" altLang="zh-CN" sz="2400" b="0" dirty="0" smtClean="0"/>
              <a:t>1 </a:t>
            </a:r>
            <a:r>
              <a:rPr lang="zh-CN" altLang="en-US" sz="2400" b="0" dirty="0" smtClean="0"/>
              <a:t>个 最慢的</a:t>
            </a:r>
            <a:r>
              <a:rPr lang="en-US" altLang="zh-CN" sz="2400" b="0" dirty="0" smtClean="0"/>
              <a:t>2</a:t>
            </a:r>
            <a:r>
              <a:rPr lang="zh-CN" altLang="en-US" sz="2400" b="0" dirty="0" smtClean="0"/>
              <a:t>个过去 最快的</a:t>
            </a:r>
            <a:r>
              <a:rPr lang="en-US" altLang="zh-CN" sz="2400" b="0" dirty="0" smtClean="0"/>
              <a:t>2</a:t>
            </a:r>
            <a:r>
              <a:rPr lang="zh-CN" altLang="en-US" sz="2400" b="0" dirty="0" smtClean="0"/>
              <a:t>个里面另外一个回来</a:t>
            </a:r>
          </a:p>
          <a:p>
            <a:r>
              <a:rPr lang="zh-CN" altLang="en-US" sz="2400" b="0" dirty="0" smtClean="0"/>
              <a:t>这样就化归为</a:t>
            </a:r>
            <a:r>
              <a:rPr lang="en-US" altLang="zh-CN" sz="2400" b="0" dirty="0" smtClean="0"/>
              <a:t>n-2</a:t>
            </a:r>
            <a:r>
              <a:rPr lang="zh-CN" altLang="en-US" sz="2400" b="0" dirty="0" smtClean="0"/>
              <a:t>的情况</a:t>
            </a:r>
          </a:p>
          <a:p>
            <a:r>
              <a:rPr lang="zh-CN" altLang="en-US" sz="2400" b="0" dirty="0" smtClean="0"/>
              <a:t>设最快的</a:t>
            </a:r>
            <a:r>
              <a:rPr lang="en-US" altLang="zh-CN" sz="2400" b="0" dirty="0" smtClean="0"/>
              <a:t>2</a:t>
            </a:r>
            <a:r>
              <a:rPr lang="zh-CN" altLang="en-US" sz="2400" b="0" dirty="0" smtClean="0"/>
              <a:t>个用时</a:t>
            </a:r>
            <a:r>
              <a:rPr lang="en-US" altLang="zh-CN" sz="2400" b="0" dirty="0" smtClean="0"/>
              <a:t>a</a:t>
            </a:r>
            <a:r>
              <a:rPr lang="zh-CN" altLang="en-US" sz="2400" b="0" dirty="0" smtClean="0"/>
              <a:t>，</a:t>
            </a:r>
            <a:r>
              <a:rPr lang="en-US" altLang="zh-CN" sz="2400" b="0" dirty="0" smtClean="0"/>
              <a:t>b</a:t>
            </a:r>
            <a:r>
              <a:rPr lang="zh-CN" altLang="en-US" sz="2400" b="0" dirty="0" smtClean="0"/>
              <a:t>，最慢的用时 </a:t>
            </a:r>
            <a:r>
              <a:rPr lang="en-US" altLang="zh-CN" sz="2400" b="0" dirty="0" err="1" smtClean="0"/>
              <a:t>y,z</a:t>
            </a:r>
            <a:endParaRPr lang="en-US" altLang="zh-CN" sz="2400" b="0" dirty="0" smtClean="0"/>
          </a:p>
          <a:p>
            <a:r>
              <a:rPr lang="zh-CN" altLang="en-US" sz="2400" b="0" dirty="0" smtClean="0"/>
              <a:t>第一种情况 用时</a:t>
            </a:r>
            <a:r>
              <a:rPr lang="en-US" altLang="zh-CN" sz="2400" b="0" dirty="0" err="1" smtClean="0"/>
              <a:t>a+a+y+z</a:t>
            </a:r>
            <a:endParaRPr lang="en-US" altLang="zh-CN" sz="2400" b="0" dirty="0" smtClean="0"/>
          </a:p>
          <a:p>
            <a:r>
              <a:rPr lang="zh-CN" altLang="en-US" sz="2400" b="0" dirty="0" smtClean="0"/>
              <a:t>第二种情况 用时</a:t>
            </a:r>
            <a:r>
              <a:rPr lang="en-US" altLang="zh-CN" sz="2400" b="0" dirty="0" err="1" smtClean="0"/>
              <a:t>a+b+b+z</a:t>
            </a:r>
            <a:endParaRPr lang="en-US" altLang="zh-CN" sz="2400" b="0" dirty="0" smtClean="0"/>
          </a:p>
          <a:p>
            <a:r>
              <a:rPr lang="zh-CN" altLang="en-US" sz="2400" b="0" dirty="0" smtClean="0"/>
              <a:t>选时间少的那组</a:t>
            </a:r>
          </a:p>
          <a:p>
            <a:r>
              <a:rPr lang="en-US" altLang="zh-CN" sz="2400" b="0" dirty="0" smtClean="0"/>
              <a:t>n=1,2 </a:t>
            </a:r>
            <a:r>
              <a:rPr lang="zh-CN" altLang="en-US" sz="2400" b="0" dirty="0" smtClean="0"/>
              <a:t>直接过 </a:t>
            </a:r>
            <a:r>
              <a:rPr lang="en-US" altLang="zh-CN" sz="2400" b="0" dirty="0" smtClean="0"/>
              <a:t>n=3</a:t>
            </a:r>
            <a:r>
              <a:rPr lang="zh-CN" altLang="en-US" sz="2400" b="0" dirty="0" smtClean="0"/>
              <a:t>，最快的陪</a:t>
            </a:r>
            <a:endParaRPr lang="zh-CN" altLang="en-US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zju</a:t>
            </a:r>
            <a:r>
              <a:rPr lang="en-US" altLang="zh-CN" dirty="0" smtClean="0"/>
              <a:t> 3397 Change the Major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三个系的一帮学生要转系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中文，信科和数学系</a:t>
            </a:r>
            <a:endParaRPr lang="en-US" altLang="zh-CN" dirty="0" smtClean="0"/>
          </a:p>
          <a:p>
            <a:r>
              <a:rPr lang="zh-CN" altLang="en-US" dirty="0" smtClean="0"/>
              <a:t>某个学生能从一个系转到另一个系，当且仅当这个学生在这两个系中</a:t>
            </a:r>
            <a:r>
              <a:rPr lang="en-US" altLang="zh-CN" dirty="0" err="1" smtClean="0"/>
              <a:t>gpa</a:t>
            </a:r>
            <a:r>
              <a:rPr lang="zh-CN" altLang="en-US" dirty="0" smtClean="0"/>
              <a:t>都是最高的</a:t>
            </a:r>
            <a:endParaRPr lang="en-US" altLang="zh-CN" dirty="0" smtClean="0"/>
          </a:p>
          <a:p>
            <a:r>
              <a:rPr lang="zh-CN" altLang="en-US" dirty="0" smtClean="0"/>
              <a:t>程序</a:t>
            </a:r>
            <a:r>
              <a:rPr lang="en-US" altLang="zh-CN" dirty="0" smtClean="0"/>
              <a:t>bug</a:t>
            </a:r>
            <a:r>
              <a:rPr lang="zh-CN" altLang="en-US" dirty="0" smtClean="0"/>
              <a:t>，计算机系和数学系不能直接转</a:t>
            </a:r>
            <a:endParaRPr lang="en-US" altLang="zh-CN" dirty="0" smtClean="0"/>
          </a:p>
          <a:p>
            <a:r>
              <a:rPr lang="zh-CN" altLang="en-US" dirty="0" smtClean="0"/>
              <a:t>求将所有学生都转到想要的系的最小转系次数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转化为汉诺塔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 smtClean="0"/>
              <a:t>将</a:t>
            </a:r>
            <a:r>
              <a:rPr lang="en-US" altLang="zh-CN" b="0" dirty="0" smtClean="0"/>
              <a:t>GPA</a:t>
            </a:r>
            <a:r>
              <a:rPr lang="zh-CN" altLang="en-US" b="0" dirty="0" smtClean="0"/>
              <a:t>高的看成小盘，</a:t>
            </a:r>
            <a:r>
              <a:rPr lang="en-US" altLang="zh-CN" b="0" dirty="0" smtClean="0"/>
              <a:t>GPA</a:t>
            </a:r>
            <a:r>
              <a:rPr lang="zh-CN" altLang="en-US" b="0" dirty="0" smtClean="0"/>
              <a:t>低的看成大盘，于是转化为汉诺塔问题，其中柱子</a:t>
            </a:r>
            <a:r>
              <a:rPr lang="en-US" altLang="zh-CN" b="0" dirty="0" smtClean="0"/>
              <a:t>1</a:t>
            </a:r>
            <a:r>
              <a:rPr lang="zh-CN" altLang="en-US" b="0" dirty="0" smtClean="0"/>
              <a:t>，</a:t>
            </a:r>
            <a:r>
              <a:rPr lang="en-US" altLang="zh-CN" b="0" dirty="0" smtClean="0"/>
              <a:t>3</a:t>
            </a:r>
            <a:r>
              <a:rPr lang="zh-CN" altLang="en-US" b="0" dirty="0" smtClean="0"/>
              <a:t>之间的直接转化是不允许的。</a:t>
            </a:r>
          </a:p>
          <a:p>
            <a:r>
              <a:rPr lang="zh-CN" altLang="en-US" b="0" dirty="0" smtClean="0"/>
              <a:t>看过具体数学的会知道，这种汉诺塔问题很特殊，把</a:t>
            </a:r>
            <a:r>
              <a:rPr lang="en-US" altLang="zh-CN" b="0" dirty="0" smtClean="0"/>
              <a:t>n</a:t>
            </a:r>
            <a:r>
              <a:rPr lang="zh-CN" altLang="en-US" b="0" dirty="0" smtClean="0"/>
              <a:t>个盘子从柱子</a:t>
            </a:r>
            <a:r>
              <a:rPr lang="en-US" altLang="zh-CN" b="0" dirty="0" smtClean="0"/>
              <a:t>1</a:t>
            </a:r>
            <a:r>
              <a:rPr lang="zh-CN" altLang="en-US" b="0" dirty="0" smtClean="0"/>
              <a:t>移动到柱子</a:t>
            </a:r>
            <a:r>
              <a:rPr lang="en-US" altLang="zh-CN" b="0" dirty="0" smtClean="0"/>
              <a:t>3</a:t>
            </a:r>
            <a:r>
              <a:rPr lang="zh-CN" altLang="en-US" b="0" dirty="0" smtClean="0"/>
              <a:t>恰好经过了</a:t>
            </a:r>
            <a:r>
              <a:rPr lang="en-US" altLang="zh-CN" b="0" dirty="0" smtClean="0"/>
              <a:t>3^n</a:t>
            </a:r>
            <a:r>
              <a:rPr lang="zh-CN" altLang="en-US" b="0" dirty="0" smtClean="0"/>
              <a:t>种所有状态。题目求两个状态的最小转化步数，所以可以先求出</a:t>
            </a:r>
            <a:r>
              <a:rPr lang="en-US" altLang="zh-CN" b="0" dirty="0" smtClean="0"/>
              <a:t>n</a:t>
            </a:r>
            <a:r>
              <a:rPr lang="zh-CN" altLang="en-US" b="0" dirty="0" smtClean="0"/>
              <a:t>个盘子都在柱子</a:t>
            </a:r>
            <a:r>
              <a:rPr lang="en-US" altLang="zh-CN" b="0" dirty="0" smtClean="0"/>
              <a:t>1</a:t>
            </a:r>
            <a:r>
              <a:rPr lang="zh-CN" altLang="en-US" b="0" dirty="0" smtClean="0"/>
              <a:t>，然后分别移动到这两个状态的方法数，做差就是答案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计数问题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一个长度为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的序列</a:t>
            </a:r>
            <a:endParaRPr lang="en-US" altLang="zh-CN" dirty="0" smtClean="0"/>
          </a:p>
          <a:p>
            <a:r>
              <a:rPr lang="zh-CN" altLang="en-US" dirty="0" smtClean="0"/>
              <a:t>给定</a:t>
            </a:r>
            <a:r>
              <a:rPr lang="en-US" altLang="zh-CN" dirty="0" smtClean="0"/>
              <a:t>w</a:t>
            </a:r>
          </a:p>
          <a:p>
            <a:r>
              <a:rPr lang="zh-CN" altLang="en-US" dirty="0" smtClean="0"/>
              <a:t>求每个</a:t>
            </a:r>
            <a:r>
              <a:rPr lang="en-US" altLang="zh-CN" dirty="0" smtClean="0"/>
              <a:t>w</a:t>
            </a:r>
            <a:r>
              <a:rPr lang="zh-CN" altLang="en-US" dirty="0" smtClean="0"/>
              <a:t>区间内不同元素的个数和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询问</a:t>
            </a:r>
            <a:r>
              <a:rPr lang="en-US" altLang="zh-CN" dirty="0" smtClean="0"/>
              <a:t>O(n)</a:t>
            </a:r>
            <a:r>
              <a:rPr lang="zh-CN" altLang="en-US" dirty="0" smtClean="0"/>
              <a:t>级别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计数问题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考察某个元素</a:t>
            </a:r>
            <a:r>
              <a:rPr lang="en-US" altLang="zh-CN" dirty="0" err="1" smtClean="0"/>
              <a:t>ai</a:t>
            </a:r>
            <a:r>
              <a:rPr lang="zh-CN" altLang="en-US" dirty="0" smtClean="0"/>
              <a:t>的上一次出现位置</a:t>
            </a:r>
            <a:r>
              <a:rPr lang="en-US" altLang="zh-CN" dirty="0" smtClean="0"/>
              <a:t>j</a:t>
            </a:r>
          </a:p>
          <a:p>
            <a:r>
              <a:rPr lang="zh-CN" altLang="en-US" dirty="0" smtClean="0"/>
              <a:t>如果</a:t>
            </a:r>
            <a:r>
              <a:rPr lang="en-US" altLang="zh-CN" dirty="0" err="1" smtClean="0"/>
              <a:t>ai,aj</a:t>
            </a:r>
            <a:r>
              <a:rPr lang="zh-CN" altLang="en-US" dirty="0" smtClean="0"/>
              <a:t>在同一个窗口中，则只计算</a:t>
            </a:r>
            <a:r>
              <a:rPr lang="en-US" altLang="zh-CN" dirty="0" err="1" smtClean="0"/>
              <a:t>aj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的贡献</a:t>
            </a:r>
            <a:r>
              <a:rPr lang="en-US" altLang="zh-CN" dirty="0" smtClean="0"/>
              <a:t>,</a:t>
            </a:r>
            <a:r>
              <a:rPr lang="zh-CN" altLang="en-US" dirty="0" smtClean="0"/>
              <a:t>即，每个窗口只有第一次出现的有效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f(w) = SUM{ min(w, j-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)}</a:t>
            </a:r>
          </a:p>
          <a:p>
            <a:r>
              <a:rPr lang="zh-CN" altLang="en-US" smtClean="0"/>
              <a:t>注意边界</a:t>
            </a:r>
            <a:endParaRPr lang="en-US" altLang="zh-CN" dirty="0" smtClean="0"/>
          </a:p>
          <a:p>
            <a:r>
              <a:rPr lang="zh-CN" altLang="en-US" dirty="0" smtClean="0"/>
              <a:t>如何递推？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概率问题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一条链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个格子 每次如果站在第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个格子上，就可以以如下概率移动到格子</a:t>
            </a:r>
            <a:r>
              <a:rPr lang="en-US" altLang="zh-CN" dirty="0" smtClean="0"/>
              <a:t>j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求从</a:t>
            </a:r>
            <a:r>
              <a:rPr lang="en-US" altLang="zh-CN" dirty="0" smtClean="0"/>
              <a:t>1</a:t>
            </a:r>
            <a:r>
              <a:rPr lang="zh-CN" altLang="en-US" dirty="0" smtClean="0"/>
              <a:t>走到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的期望步数</a:t>
            </a:r>
            <a:endParaRPr lang="zh-CN" alt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2571744"/>
            <a:ext cx="7562982" cy="250033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概率问题的通用套路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设</a:t>
            </a:r>
            <a:r>
              <a:rPr lang="en-US" altLang="zh-CN" dirty="0" smtClean="0"/>
              <a:t>f(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)</a:t>
            </a:r>
            <a:r>
              <a:rPr lang="zh-CN" altLang="en-US" dirty="0" smtClean="0"/>
              <a:t>表示状态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 到终点 的期望步数</a:t>
            </a:r>
            <a:endParaRPr lang="en-US" altLang="zh-CN" dirty="0" smtClean="0"/>
          </a:p>
          <a:p>
            <a:r>
              <a:rPr lang="zh-CN" altLang="en-US" dirty="0" smtClean="0"/>
              <a:t>根据概率转移公式写出</a:t>
            </a:r>
            <a:r>
              <a:rPr lang="en-US" altLang="zh-CN" dirty="0" smtClean="0"/>
              <a:t>f(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)</a:t>
            </a:r>
            <a:r>
              <a:rPr lang="zh-CN" altLang="en-US" dirty="0" smtClean="0"/>
              <a:t>之间的关系，然后高斯消元解方程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同类题目频繁出现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</a:t>
            </a:r>
            <a:r>
              <a:rPr lang="en-US" altLang="zh-CN" dirty="0" smtClean="0"/>
              <a:t>2011</a:t>
            </a:r>
            <a:r>
              <a:rPr lang="zh-CN" altLang="en-US" dirty="0" smtClean="0"/>
              <a:t>年北京赛区</a:t>
            </a:r>
            <a:r>
              <a:rPr lang="en-US" altLang="zh-CN" dirty="0" smtClean="0"/>
              <a:t>I</a:t>
            </a:r>
            <a:r>
              <a:rPr lang="zh-CN" altLang="en-US" dirty="0" smtClean="0"/>
              <a:t>题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矩阵乘法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常系数线性递推方程</a:t>
            </a:r>
            <a:endParaRPr lang="en-US" altLang="zh-CN" dirty="0" smtClean="0"/>
          </a:p>
          <a:p>
            <a:r>
              <a:rPr lang="en-US" altLang="zh-CN" dirty="0" smtClean="0"/>
              <a:t>a</a:t>
            </a:r>
            <a:r>
              <a:rPr lang="en-US" altLang="zh-CN" baseline="-25000" dirty="0" smtClean="0"/>
              <a:t>n+k</a:t>
            </a:r>
            <a:r>
              <a:rPr lang="en-US" altLang="zh-CN" dirty="0" smtClean="0"/>
              <a:t> = b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a</a:t>
            </a:r>
            <a:r>
              <a:rPr lang="en-US" altLang="zh-CN" baseline="-25000" dirty="0" smtClean="0"/>
              <a:t>n</a:t>
            </a:r>
            <a:r>
              <a:rPr lang="en-US" altLang="zh-CN" dirty="0" smtClean="0"/>
              <a:t>+b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a</a:t>
            </a:r>
            <a:r>
              <a:rPr lang="en-US" altLang="zh-CN" baseline="-25000" dirty="0" smtClean="0"/>
              <a:t>n+1</a:t>
            </a:r>
            <a:r>
              <a:rPr lang="en-US" altLang="zh-CN" dirty="0" smtClean="0"/>
              <a:t>+..b</a:t>
            </a:r>
            <a:r>
              <a:rPr lang="en-US" altLang="zh-CN" baseline="-25000" dirty="0" smtClean="0"/>
              <a:t>k-1</a:t>
            </a:r>
            <a:r>
              <a:rPr lang="en-US" altLang="zh-CN" dirty="0" smtClean="0"/>
              <a:t>a</a:t>
            </a:r>
            <a:r>
              <a:rPr lang="en-US" altLang="zh-CN" baseline="-25000" dirty="0" smtClean="0"/>
              <a:t>n+k-1</a:t>
            </a:r>
          </a:p>
          <a:p>
            <a:endParaRPr lang="en-US" altLang="zh-CN" baseline="-25000" dirty="0" smtClean="0"/>
          </a:p>
          <a:p>
            <a:endParaRPr lang="en-US" altLang="zh-CN" baseline="-25000" dirty="0" smtClean="0"/>
          </a:p>
          <a:p>
            <a:endParaRPr lang="en-US" altLang="zh-CN" baseline="-25000" dirty="0" smtClean="0"/>
          </a:p>
          <a:p>
            <a:r>
              <a:rPr lang="zh-CN" altLang="en-US" dirty="0" smtClean="0"/>
              <a:t>如何求</a:t>
            </a:r>
            <a:r>
              <a:rPr lang="en-US" altLang="zh-CN" dirty="0" smtClean="0"/>
              <a:t>1^k + 2^k + …+</a:t>
            </a:r>
            <a:r>
              <a:rPr lang="en-US" altLang="zh-CN" dirty="0" err="1" smtClean="0"/>
              <a:t>n^k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hdu3369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Poj</a:t>
            </a:r>
            <a:r>
              <a:rPr lang="en-US" altLang="zh-CN" dirty="0" smtClean="0"/>
              <a:t> 3735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N</a:t>
            </a:r>
            <a:r>
              <a:rPr lang="zh-CN" altLang="en-US" dirty="0" smtClean="0"/>
              <a:t>个整数 </a:t>
            </a:r>
            <a:r>
              <a:rPr lang="en-US" altLang="zh-CN" dirty="0" smtClean="0"/>
              <a:t>a1..an</a:t>
            </a:r>
            <a:r>
              <a:rPr lang="zh-CN" altLang="en-US" dirty="0" smtClean="0"/>
              <a:t>三种操作</a:t>
            </a:r>
            <a:endParaRPr lang="en-US" altLang="zh-CN" dirty="0" smtClean="0"/>
          </a:p>
          <a:p>
            <a:r>
              <a:rPr lang="en-US" altLang="zh-CN" dirty="0" smtClean="0"/>
              <a:t>1 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ai</a:t>
            </a:r>
            <a:r>
              <a:rPr lang="en-US" altLang="zh-CN" dirty="0" smtClean="0"/>
              <a:t> = ai+1</a:t>
            </a:r>
          </a:p>
          <a:p>
            <a:r>
              <a:rPr lang="en-US" altLang="zh-CN" dirty="0" smtClean="0"/>
              <a:t>2  </a:t>
            </a:r>
            <a:r>
              <a:rPr lang="en-US" altLang="zh-CN" dirty="0" err="1" smtClean="0"/>
              <a:t>ai</a:t>
            </a:r>
            <a:r>
              <a:rPr lang="en-US" altLang="zh-CN" dirty="0" smtClean="0"/>
              <a:t> = 0</a:t>
            </a:r>
          </a:p>
          <a:p>
            <a:r>
              <a:rPr lang="en-US" altLang="zh-CN" dirty="0" smtClean="0"/>
              <a:t>3  swap(</a:t>
            </a:r>
            <a:r>
              <a:rPr lang="en-US" altLang="zh-CN" dirty="0" err="1" smtClean="0"/>
              <a:t>ai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aj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给</a:t>
            </a:r>
            <a:r>
              <a:rPr lang="zh-CN" altLang="en-US" dirty="0" smtClean="0"/>
              <a:t>出一个操作序列 求将这个序列执行</a:t>
            </a:r>
            <a:r>
              <a:rPr lang="en-US" altLang="zh-CN" dirty="0" smtClean="0"/>
              <a:t>m</a:t>
            </a:r>
            <a:r>
              <a:rPr lang="zh-CN" altLang="en-US" dirty="0" smtClean="0"/>
              <a:t>遍后的状态</a:t>
            </a:r>
            <a:endParaRPr lang="en-US" altLang="zh-CN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Them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北京大学PPT模版</Template>
  <TotalTime>104</TotalTime>
  <Words>627</Words>
  <PresentationFormat>全屏显示(4:3)</PresentationFormat>
  <Paragraphs>81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主题</vt:lpstr>
      <vt:lpstr>ACM中数学类的杂题</vt:lpstr>
      <vt:lpstr>约瑟夫问题</vt:lpstr>
      <vt:lpstr>约瑟夫问题</vt:lpstr>
      <vt:lpstr>过桥问题</vt:lpstr>
      <vt:lpstr>过桥问题</vt:lpstr>
      <vt:lpstr>zju 3397 Change the Major</vt:lpstr>
      <vt:lpstr>转化为汉诺塔</vt:lpstr>
      <vt:lpstr>计数问题</vt:lpstr>
      <vt:lpstr>计数问题</vt:lpstr>
      <vt:lpstr>概率问题</vt:lpstr>
      <vt:lpstr>概率问题的通用套路</vt:lpstr>
      <vt:lpstr>矩阵乘法</vt:lpstr>
      <vt:lpstr>Poj 3735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ACM中数学类的杂题</dc:title>
  <dc:creator>lccycc</dc:creator>
  <cp:lastModifiedBy>lccycc</cp:lastModifiedBy>
  <cp:revision>18</cp:revision>
  <dcterms:created xsi:type="dcterms:W3CDTF">2013-07-16T02:58:08Z</dcterms:created>
  <dcterms:modified xsi:type="dcterms:W3CDTF">2013-07-17T03:35:28Z</dcterms:modified>
</cp:coreProperties>
</file>