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4" r:id="rId6"/>
    <p:sldId id="265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2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B943E-76D8-4710-BC58-3F1EE70DC0B0}" type="datetimeFigureOut">
              <a:rPr lang="zh-CN" altLang="en-US" smtClean="0"/>
              <a:pPr/>
              <a:t>2014/7/21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368-9BDE-4C8E-A323-385F54563D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B943E-76D8-4710-BC58-3F1EE70DC0B0}" type="datetimeFigureOut">
              <a:rPr lang="zh-CN" altLang="en-US" smtClean="0"/>
              <a:pPr/>
              <a:t>2014/7/21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368-9BDE-4C8E-A323-385F54563D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B943E-76D8-4710-BC58-3F1EE70DC0B0}" type="datetimeFigureOut">
              <a:rPr lang="zh-CN" altLang="en-US" smtClean="0"/>
              <a:pPr/>
              <a:t>2014/7/21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368-9BDE-4C8E-A323-385F54563D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B943E-76D8-4710-BC58-3F1EE70DC0B0}" type="datetimeFigureOut">
              <a:rPr lang="zh-CN" altLang="en-US" smtClean="0"/>
              <a:pPr/>
              <a:t>2014/7/21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368-9BDE-4C8E-A323-385F54563D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B943E-76D8-4710-BC58-3F1EE70DC0B0}" type="datetimeFigureOut">
              <a:rPr lang="zh-CN" altLang="en-US" smtClean="0"/>
              <a:pPr/>
              <a:t>2014/7/21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368-9BDE-4C8E-A323-385F54563D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B943E-76D8-4710-BC58-3F1EE70DC0B0}" type="datetimeFigureOut">
              <a:rPr lang="zh-CN" altLang="en-US" smtClean="0"/>
              <a:pPr/>
              <a:t>2014/7/21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368-9BDE-4C8E-A323-385F54563D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B943E-76D8-4710-BC58-3F1EE70DC0B0}" type="datetimeFigureOut">
              <a:rPr lang="zh-CN" altLang="en-US" smtClean="0"/>
              <a:pPr/>
              <a:t>2014/7/21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368-9BDE-4C8E-A323-385F54563D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B943E-76D8-4710-BC58-3F1EE70DC0B0}" type="datetimeFigureOut">
              <a:rPr lang="zh-CN" altLang="en-US" smtClean="0"/>
              <a:pPr/>
              <a:t>2014/7/21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368-9BDE-4C8E-A323-385F54563D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B943E-76D8-4710-BC58-3F1EE70DC0B0}" type="datetimeFigureOut">
              <a:rPr lang="zh-CN" altLang="en-US" smtClean="0"/>
              <a:pPr/>
              <a:t>2014/7/21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368-9BDE-4C8E-A323-385F54563D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B943E-76D8-4710-BC58-3F1EE70DC0B0}" type="datetimeFigureOut">
              <a:rPr lang="zh-CN" altLang="en-US" smtClean="0"/>
              <a:pPr/>
              <a:t>2014/7/21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368-9BDE-4C8E-A323-385F54563D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B943E-76D8-4710-BC58-3F1EE70DC0B0}" type="datetimeFigureOut">
              <a:rPr lang="zh-CN" altLang="en-US" smtClean="0"/>
              <a:pPr/>
              <a:t>2014/7/21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368-9BDE-4C8E-A323-385F54563D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228600"/>
            <a:ext cx="8540750" cy="5870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01625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F9443544-78E4-4586-A686-56A2906E4EB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B943E-76D8-4710-BC58-3F1EE70DC0B0}" type="datetimeFigureOut">
              <a:rPr lang="zh-CN" altLang="en-US" smtClean="0"/>
              <a:pPr/>
              <a:t>2014/7/21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E6368-9BDE-4C8E-A323-385F54563D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rgbClr val="7030A0"/>
                </a:solidFill>
              </a:rPr>
              <a:t>Dijkstra's</a:t>
            </a:r>
            <a:r>
              <a:rPr lang="en-US" altLang="zh-CN" dirty="0" smtClean="0">
                <a:solidFill>
                  <a:srgbClr val="7030A0"/>
                </a:solidFill>
              </a:rPr>
              <a:t> Algorithm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804" y="1600200"/>
            <a:ext cx="8406676" cy="506916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解决无负权边的带权</a:t>
            </a:r>
            <a:r>
              <a:rPr lang="zh-CN" altLang="en-US" dirty="0" smtClean="0"/>
              <a:t>有向图或无向图的</a:t>
            </a:r>
            <a:r>
              <a:rPr lang="zh-CN" altLang="en-US" dirty="0" smtClean="0"/>
              <a:t>单源最短路问题</a:t>
            </a:r>
            <a:endParaRPr lang="en-US" altLang="zh-CN" dirty="0" smtClean="0"/>
          </a:p>
          <a:p>
            <a:r>
              <a:rPr lang="zh-CN" altLang="en-US" dirty="0" smtClean="0"/>
              <a:t>贪心</a:t>
            </a:r>
            <a:r>
              <a:rPr lang="zh-CN" altLang="en-US" dirty="0" smtClean="0"/>
              <a:t>思想，若离</a:t>
            </a:r>
            <a:r>
              <a:rPr lang="en-US" altLang="zh-CN" dirty="0" smtClean="0"/>
              <a:t>s</a:t>
            </a:r>
            <a:r>
              <a:rPr lang="zh-CN" altLang="en-US" dirty="0" smtClean="0"/>
              <a:t>前</a:t>
            </a:r>
            <a:r>
              <a:rPr lang="en-US" altLang="zh-CN" dirty="0" smtClean="0"/>
              <a:t>k-1</a:t>
            </a:r>
            <a:r>
              <a:rPr lang="zh-CN" altLang="en-US" dirty="0" smtClean="0"/>
              <a:t>近的点已经被确定，构成点集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，那么从</a:t>
            </a:r>
            <a:r>
              <a:rPr lang="en-US" altLang="zh-CN" dirty="0" smtClean="0"/>
              <a:t>s</a:t>
            </a:r>
            <a:r>
              <a:rPr lang="zh-CN" altLang="en-US" dirty="0" smtClean="0"/>
              <a:t>到离</a:t>
            </a:r>
            <a:r>
              <a:rPr lang="en-US" altLang="zh-CN" dirty="0" smtClean="0"/>
              <a:t>s</a:t>
            </a:r>
            <a:r>
              <a:rPr lang="zh-CN" altLang="en-US" dirty="0" smtClean="0"/>
              <a:t>第</a:t>
            </a:r>
            <a:r>
              <a:rPr lang="en-US" altLang="zh-CN" dirty="0" smtClean="0"/>
              <a:t>k</a:t>
            </a:r>
            <a:r>
              <a:rPr lang="zh-CN" altLang="en-US" dirty="0" smtClean="0"/>
              <a:t>近的点</a:t>
            </a:r>
            <a:r>
              <a:rPr lang="en-US" altLang="zh-CN" dirty="0" smtClean="0"/>
              <a:t>t</a:t>
            </a:r>
            <a:r>
              <a:rPr lang="zh-CN" altLang="en-US" dirty="0" smtClean="0"/>
              <a:t>的最短路径，</a:t>
            </a:r>
            <a:r>
              <a:rPr lang="en-US" altLang="zh-CN" dirty="0" smtClean="0"/>
              <a:t>{</a:t>
            </a:r>
            <a:r>
              <a:rPr lang="en-US" altLang="zh-CN" dirty="0" smtClean="0"/>
              <a:t>s,p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,p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…</a:t>
            </a:r>
            <a:r>
              <a:rPr lang="en-US" altLang="zh-CN" dirty="0" err="1" smtClean="0"/>
              <a:t>p</a:t>
            </a:r>
            <a:r>
              <a:rPr lang="en-US" altLang="zh-CN" baseline="-25000" dirty="0" err="1" smtClean="0"/>
              <a:t>i</a:t>
            </a:r>
            <a:r>
              <a:rPr lang="en-US" altLang="zh-CN" dirty="0" err="1" smtClean="0"/>
              <a:t>,t</a:t>
            </a:r>
            <a:r>
              <a:rPr lang="en-US" altLang="zh-CN" dirty="0" smtClean="0"/>
              <a:t>}</a:t>
            </a:r>
            <a:r>
              <a:rPr lang="zh-CN" altLang="en-US" dirty="0" smtClean="0"/>
              <a:t>满足</a:t>
            </a:r>
            <a:r>
              <a:rPr lang="en-US" altLang="zh-CN" dirty="0" smtClean="0"/>
              <a:t>s,p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,p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…p</a:t>
            </a:r>
            <a:r>
              <a:rPr lang="en-US" altLang="zh-CN" baseline="-25000" dirty="0" smtClean="0"/>
              <a:t>i</a:t>
            </a:r>
            <a:r>
              <a:rPr lang="zh-CN" altLang="en-US" dirty="0" smtClean="0"/>
              <a:t>∈</a:t>
            </a:r>
            <a:r>
              <a:rPr lang="en-US" altLang="zh-CN" dirty="0" smtClean="0"/>
              <a:t>P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否则假设</a:t>
            </a:r>
            <a:r>
              <a:rPr lang="en-US" altLang="zh-CN" dirty="0" smtClean="0"/>
              <a:t>pi</a:t>
            </a:r>
            <a:r>
              <a:rPr lang="zh-CN" altLang="en-US" dirty="0" smtClean="0"/>
              <a:t>∉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，则因为边权非负，</a:t>
            </a:r>
            <a:r>
              <a:rPr lang="en-US" altLang="zh-CN" dirty="0" smtClean="0"/>
              <a:t>pi</a:t>
            </a:r>
            <a:r>
              <a:rPr lang="zh-CN" altLang="en-US" dirty="0" smtClean="0"/>
              <a:t>到</a:t>
            </a:r>
            <a:r>
              <a:rPr lang="en-US" altLang="zh-CN" dirty="0" smtClean="0"/>
              <a:t>t</a:t>
            </a:r>
            <a:r>
              <a:rPr lang="zh-CN" altLang="en-US" dirty="0" smtClean="0"/>
              <a:t>的路径≥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，则</a:t>
            </a:r>
            <a:r>
              <a:rPr lang="en-US" altLang="zh-CN" dirty="0" smtClean="0"/>
              <a:t>d[pi]</a:t>
            </a:r>
            <a:r>
              <a:rPr lang="zh-CN" altLang="en-US" dirty="0" smtClean="0"/>
              <a:t>≤</a:t>
            </a:r>
            <a:r>
              <a:rPr lang="en-US" altLang="zh-CN" dirty="0" smtClean="0"/>
              <a:t>d[t</a:t>
            </a:r>
            <a:r>
              <a:rPr lang="en-US" altLang="zh-CN" dirty="0" smtClean="0"/>
              <a:t>],pi</a:t>
            </a:r>
            <a:r>
              <a:rPr lang="zh-CN" altLang="en-US" dirty="0" smtClean="0"/>
              <a:t>才是第</a:t>
            </a:r>
            <a:r>
              <a:rPr lang="en-US" altLang="zh-CN" dirty="0" smtClean="0"/>
              <a:t>k</a:t>
            </a:r>
            <a:r>
              <a:rPr lang="zh-CN" altLang="en-US" dirty="0" smtClean="0"/>
              <a:t>近</a:t>
            </a:r>
            <a:endParaRPr lang="en-US" altLang="zh-CN" dirty="0" smtClean="0"/>
          </a:p>
          <a:p>
            <a:r>
              <a:rPr lang="en-US" altLang="zh-CN" dirty="0" smtClean="0"/>
              <a:t>d[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]=min(d[p</a:t>
            </a:r>
            <a:r>
              <a:rPr lang="en-US" altLang="zh-CN" baseline="-25000" dirty="0" smtClean="0"/>
              <a:t>i</a:t>
            </a:r>
            <a:r>
              <a:rPr lang="en-US" altLang="zh-CN" dirty="0" smtClean="0"/>
              <a:t>]+cost(</a:t>
            </a:r>
            <a:r>
              <a:rPr lang="en-US" altLang="zh-CN" dirty="0" err="1" smtClean="0"/>
              <a:t>p</a:t>
            </a:r>
            <a:r>
              <a:rPr lang="en-US" altLang="zh-CN" baseline="-25000" dirty="0" err="1" smtClean="0"/>
              <a:t>i</a:t>
            </a:r>
            <a:r>
              <a:rPr lang="en-US" altLang="zh-CN" dirty="0" err="1" smtClean="0"/>
              <a:t>,i</a:t>
            </a:r>
            <a:r>
              <a:rPr lang="en-US" altLang="zh-CN" dirty="0" smtClean="0"/>
              <a:t>)),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∉</a:t>
            </a:r>
            <a:r>
              <a:rPr lang="en-US" altLang="zh-CN" dirty="0" err="1" smtClean="0"/>
              <a:t>P,p</a:t>
            </a:r>
            <a:r>
              <a:rPr lang="en-US" altLang="zh-CN" baseline="-25000" dirty="0" err="1" smtClean="0"/>
              <a:t>i</a:t>
            </a:r>
            <a:r>
              <a:rPr lang="zh-CN" altLang="en-US" dirty="0" smtClean="0"/>
              <a:t>∈</a:t>
            </a:r>
            <a:r>
              <a:rPr lang="en-US" altLang="zh-CN" dirty="0" smtClean="0"/>
              <a:t>P</a:t>
            </a:r>
          </a:p>
          <a:p>
            <a:pPr>
              <a:buNone/>
            </a:pPr>
            <a:r>
              <a:rPr lang="en-US" altLang="zh-CN" dirty="0" smtClean="0"/>
              <a:t>	d[t]=min(d[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]) ,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∉</a:t>
            </a:r>
            <a:r>
              <a:rPr lang="en-US" altLang="zh-CN" dirty="0" smtClean="0"/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>
                <a:solidFill>
                  <a:srgbClr val="7030A0"/>
                </a:solidFill>
              </a:rPr>
              <a:t>Dijkstra's</a:t>
            </a:r>
            <a:r>
              <a:rPr lang="en-US" altLang="zh-CN" dirty="0" smtClean="0">
                <a:solidFill>
                  <a:srgbClr val="7030A0"/>
                </a:solidFill>
              </a:rPr>
              <a:t> Algorithm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初始令</a:t>
            </a:r>
            <a:r>
              <a:rPr lang="en-US" altLang="zh-CN" dirty="0" smtClean="0"/>
              <a:t>d[s]=0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d[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]=+∞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P=</a:t>
            </a:r>
            <a:r>
              <a:rPr lang="zh-CN" altLang="en-US" dirty="0" smtClean="0"/>
              <a:t>∅</a:t>
            </a:r>
            <a:endParaRPr lang="en-US" altLang="zh-CN" dirty="0" smtClean="0"/>
          </a:p>
          <a:p>
            <a:r>
              <a:rPr lang="zh-CN" altLang="en-US" dirty="0" smtClean="0"/>
              <a:t>找到点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∉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，且</a:t>
            </a:r>
            <a:r>
              <a:rPr lang="en-US" altLang="zh-CN" dirty="0" smtClean="0"/>
              <a:t>d[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</a:t>
            </a:r>
            <a:r>
              <a:rPr lang="zh-CN" altLang="en-US" dirty="0" smtClean="0"/>
              <a:t>最小</a:t>
            </a:r>
            <a:endParaRPr lang="en-US" altLang="zh-CN" dirty="0" smtClean="0"/>
          </a:p>
          <a:p>
            <a:r>
              <a:rPr lang="zh-CN" altLang="en-US" dirty="0" smtClean="0"/>
              <a:t>把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添入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，对于任意</a:t>
            </a:r>
            <a:r>
              <a:rPr lang="en-US" altLang="zh-CN" dirty="0" smtClean="0"/>
              <a:t>j</a:t>
            </a:r>
            <a:r>
              <a:rPr lang="zh-CN" altLang="en-US" dirty="0" smtClean="0"/>
              <a:t>∉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，若</a:t>
            </a:r>
            <a:r>
              <a:rPr lang="en-US" altLang="zh-CN" dirty="0" smtClean="0"/>
              <a:t>d[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]+cost(</a:t>
            </a:r>
            <a:r>
              <a:rPr lang="en-US" altLang="zh-CN" dirty="0" err="1" smtClean="0"/>
              <a:t>i,j</a:t>
            </a:r>
            <a:r>
              <a:rPr lang="en-US" altLang="zh-CN" dirty="0" smtClean="0"/>
              <a:t>)&lt;d[j]</a:t>
            </a:r>
            <a:r>
              <a:rPr lang="zh-CN" altLang="en-US" dirty="0" smtClean="0"/>
              <a:t>，则更新</a:t>
            </a:r>
            <a:r>
              <a:rPr lang="en-US" altLang="zh-CN" dirty="0" smtClean="0"/>
              <a:t>d[j]=d[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]+cost(</a:t>
            </a:r>
            <a:r>
              <a:rPr lang="en-US" altLang="zh-CN" dirty="0" err="1" smtClean="0"/>
              <a:t>i,j</a:t>
            </a:r>
            <a:r>
              <a:rPr lang="en-US" altLang="zh-CN" dirty="0" smtClean="0"/>
              <a:t>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时间复杂度</a:t>
            </a:r>
            <a:r>
              <a:rPr lang="en-US" altLang="zh-CN" dirty="0" smtClean="0"/>
              <a:t>O(V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+E)</a:t>
            </a:r>
          </a:p>
          <a:p>
            <a:r>
              <a:rPr lang="en-US" altLang="zh-CN" dirty="0" err="1" smtClean="0"/>
              <a:t>Dijkstra</a:t>
            </a:r>
            <a:r>
              <a:rPr lang="en-US" altLang="zh-CN" dirty="0" smtClean="0"/>
              <a:t>+</a:t>
            </a:r>
            <a:r>
              <a:rPr lang="zh-CN" altLang="en-US" dirty="0" smtClean="0"/>
              <a:t>堆的时间复杂度 </a:t>
            </a:r>
            <a:r>
              <a:rPr lang="en-US" dirty="0" smtClean="0"/>
              <a:t>o(</a:t>
            </a:r>
            <a:r>
              <a:rPr lang="en-US" dirty="0" err="1" smtClean="0"/>
              <a:t>ElgV</a:t>
            </a:r>
            <a:r>
              <a:rPr lang="en-US" dirty="0" smtClean="0"/>
              <a:t>) </a:t>
            </a:r>
            <a:endParaRPr lang="en-US" altLang="zh-CN" dirty="0" smtClean="0"/>
          </a:p>
          <a:p>
            <a:r>
              <a:rPr lang="zh-CN" altLang="en-US" dirty="0" smtClean="0"/>
              <a:t>用斐波那契堆可以做到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VlogV+E</a:t>
            </a:r>
            <a:r>
              <a:rPr lang="en-US" altLang="zh-CN" dirty="0" smtClean="0"/>
              <a:t>)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Oval 4"/>
          <p:cNvSpPr>
            <a:spLocks noChangeArrowheads="1"/>
          </p:cNvSpPr>
          <p:nvPr/>
        </p:nvSpPr>
        <p:spPr bwMode="auto">
          <a:xfrm>
            <a:off x="1066800" y="3276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41989" name="Oval 5"/>
          <p:cNvSpPr>
            <a:spLocks noChangeArrowheads="1"/>
          </p:cNvSpPr>
          <p:nvPr/>
        </p:nvSpPr>
        <p:spPr bwMode="auto">
          <a:xfrm>
            <a:off x="1981200" y="1219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4</a:t>
            </a:r>
          </a:p>
        </p:txBody>
      </p:sp>
      <p:sp>
        <p:nvSpPr>
          <p:cNvPr id="41990" name="Oval 6"/>
          <p:cNvSpPr>
            <a:spLocks noChangeArrowheads="1"/>
          </p:cNvSpPr>
          <p:nvPr/>
        </p:nvSpPr>
        <p:spPr bwMode="auto">
          <a:xfrm>
            <a:off x="4038600" y="10668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41991" name="Oval 7"/>
          <p:cNvSpPr>
            <a:spLocks noChangeArrowheads="1"/>
          </p:cNvSpPr>
          <p:nvPr/>
        </p:nvSpPr>
        <p:spPr bwMode="auto">
          <a:xfrm>
            <a:off x="4038600" y="47244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3</a:t>
            </a:r>
          </a:p>
        </p:txBody>
      </p:sp>
      <p:sp>
        <p:nvSpPr>
          <p:cNvPr id="41992" name="Oval 8"/>
          <p:cNvSpPr>
            <a:spLocks noChangeArrowheads="1"/>
          </p:cNvSpPr>
          <p:nvPr/>
        </p:nvSpPr>
        <p:spPr bwMode="auto">
          <a:xfrm>
            <a:off x="53340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41993" name="Line 9"/>
          <p:cNvSpPr>
            <a:spLocks noChangeShapeType="1"/>
          </p:cNvSpPr>
          <p:nvPr/>
        </p:nvSpPr>
        <p:spPr bwMode="auto">
          <a:xfrm flipV="1">
            <a:off x="1600200" y="3048000"/>
            <a:ext cx="3581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1994" name="Line 10"/>
          <p:cNvSpPr>
            <a:spLocks noChangeShapeType="1"/>
          </p:cNvSpPr>
          <p:nvPr/>
        </p:nvSpPr>
        <p:spPr bwMode="auto">
          <a:xfrm>
            <a:off x="4572000" y="1524000"/>
            <a:ext cx="7620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1995" name="Line 11"/>
          <p:cNvSpPr>
            <a:spLocks noChangeShapeType="1"/>
          </p:cNvSpPr>
          <p:nvPr/>
        </p:nvSpPr>
        <p:spPr bwMode="auto">
          <a:xfrm flipV="1">
            <a:off x="4724400" y="3505200"/>
            <a:ext cx="7620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1996" name="Line 12"/>
          <p:cNvSpPr>
            <a:spLocks noChangeShapeType="1"/>
          </p:cNvSpPr>
          <p:nvPr/>
        </p:nvSpPr>
        <p:spPr bwMode="auto">
          <a:xfrm flipV="1">
            <a:off x="1600200" y="1447800"/>
            <a:ext cx="23622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1997" name="Line 13"/>
          <p:cNvSpPr>
            <a:spLocks noChangeShapeType="1"/>
          </p:cNvSpPr>
          <p:nvPr/>
        </p:nvSpPr>
        <p:spPr bwMode="auto">
          <a:xfrm>
            <a:off x="1600200" y="3886200"/>
            <a:ext cx="2209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1998" name="Line 14"/>
          <p:cNvSpPr>
            <a:spLocks noChangeShapeType="1"/>
          </p:cNvSpPr>
          <p:nvPr/>
        </p:nvSpPr>
        <p:spPr bwMode="auto">
          <a:xfrm flipV="1">
            <a:off x="1371600" y="1828800"/>
            <a:ext cx="6096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1999" name="Line 15"/>
          <p:cNvSpPr>
            <a:spLocks noChangeShapeType="1"/>
          </p:cNvSpPr>
          <p:nvPr/>
        </p:nvSpPr>
        <p:spPr bwMode="auto">
          <a:xfrm>
            <a:off x="2667000" y="12192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2000" name="Line 16"/>
          <p:cNvSpPr>
            <a:spLocks noChangeShapeType="1"/>
          </p:cNvSpPr>
          <p:nvPr/>
        </p:nvSpPr>
        <p:spPr bwMode="auto">
          <a:xfrm>
            <a:off x="2514600" y="1828800"/>
            <a:ext cx="167640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2001" name="Text Box 17"/>
          <p:cNvSpPr txBox="1">
            <a:spLocks noChangeArrowheads="1"/>
          </p:cNvSpPr>
          <p:nvPr/>
        </p:nvSpPr>
        <p:spPr bwMode="auto">
          <a:xfrm>
            <a:off x="1279525" y="2170113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50</a:t>
            </a:r>
          </a:p>
        </p:txBody>
      </p:sp>
      <p:sp>
        <p:nvSpPr>
          <p:cNvPr id="42002" name="Text Box 18"/>
          <p:cNvSpPr txBox="1">
            <a:spLocks noChangeArrowheads="1"/>
          </p:cNvSpPr>
          <p:nvPr/>
        </p:nvSpPr>
        <p:spPr bwMode="auto">
          <a:xfrm>
            <a:off x="2955925" y="874713"/>
            <a:ext cx="565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200</a:t>
            </a:r>
          </a:p>
        </p:txBody>
      </p:sp>
      <p:sp>
        <p:nvSpPr>
          <p:cNvPr id="42003" name="Text Box 19"/>
          <p:cNvSpPr txBox="1">
            <a:spLocks noChangeArrowheads="1"/>
          </p:cNvSpPr>
          <p:nvPr/>
        </p:nvSpPr>
        <p:spPr bwMode="auto">
          <a:xfrm>
            <a:off x="2895600" y="2667000"/>
            <a:ext cx="56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200</a:t>
            </a:r>
          </a:p>
        </p:txBody>
      </p:sp>
      <p:sp>
        <p:nvSpPr>
          <p:cNvPr id="42004" name="Text Box 20"/>
          <p:cNvSpPr txBox="1">
            <a:spLocks noChangeArrowheads="1"/>
          </p:cNvSpPr>
          <p:nvPr/>
        </p:nvSpPr>
        <p:spPr bwMode="auto">
          <a:xfrm>
            <a:off x="2057400" y="2514600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1000</a:t>
            </a:r>
          </a:p>
        </p:txBody>
      </p:sp>
      <p:sp>
        <p:nvSpPr>
          <p:cNvPr id="42005" name="Text Box 21"/>
          <p:cNvSpPr txBox="1">
            <a:spLocks noChangeArrowheads="1"/>
          </p:cNvSpPr>
          <p:nvPr/>
        </p:nvSpPr>
        <p:spPr bwMode="auto">
          <a:xfrm>
            <a:off x="2362200" y="4191000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3000</a:t>
            </a:r>
          </a:p>
        </p:txBody>
      </p:sp>
      <p:sp>
        <p:nvSpPr>
          <p:cNvPr id="42006" name="Text Box 22"/>
          <p:cNvSpPr txBox="1">
            <a:spLocks noChangeArrowheads="1"/>
          </p:cNvSpPr>
          <p:nvPr/>
        </p:nvSpPr>
        <p:spPr bwMode="auto">
          <a:xfrm>
            <a:off x="4038600" y="2971800"/>
            <a:ext cx="819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10000</a:t>
            </a:r>
          </a:p>
        </p:txBody>
      </p:sp>
      <p:sp>
        <p:nvSpPr>
          <p:cNvPr id="42007" name="Text Box 23"/>
          <p:cNvSpPr txBox="1">
            <a:spLocks noChangeArrowheads="1"/>
          </p:cNvSpPr>
          <p:nvPr/>
        </p:nvSpPr>
        <p:spPr bwMode="auto">
          <a:xfrm>
            <a:off x="4724400" y="1752600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8000</a:t>
            </a:r>
          </a:p>
        </p:txBody>
      </p:sp>
      <p:sp>
        <p:nvSpPr>
          <p:cNvPr id="42008" name="Text Box 24"/>
          <p:cNvSpPr txBox="1">
            <a:spLocks noChangeArrowheads="1"/>
          </p:cNvSpPr>
          <p:nvPr/>
        </p:nvSpPr>
        <p:spPr bwMode="auto">
          <a:xfrm>
            <a:off x="4953000" y="3886200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5000</a:t>
            </a:r>
          </a:p>
        </p:txBody>
      </p:sp>
      <p:graphicFrame>
        <p:nvGraphicFramePr>
          <p:cNvPr id="42042" name="Group 58"/>
          <p:cNvGraphicFramePr>
            <a:graphicFrameLocks noGrp="1"/>
          </p:cNvGraphicFramePr>
          <p:nvPr>
            <p:ph/>
          </p:nvPr>
        </p:nvGraphicFramePr>
        <p:xfrm>
          <a:off x="6248400" y="990600"/>
          <a:ext cx="2593975" cy="4324350"/>
        </p:xfrm>
        <a:graphic>
          <a:graphicData uri="http://schemas.openxmlformats.org/drawingml/2006/table">
            <a:tbl>
              <a:tblPr/>
              <a:tblGrid>
                <a:gridCol w="1296988"/>
                <a:gridCol w="1296987"/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Dist[v]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044" name="Text Box 60"/>
          <p:cNvSpPr txBox="1">
            <a:spLocks noChangeArrowheads="1"/>
          </p:cNvSpPr>
          <p:nvPr/>
        </p:nvSpPr>
        <p:spPr bwMode="auto">
          <a:xfrm>
            <a:off x="7772400" y="259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42045" name="Text Box 61"/>
          <p:cNvSpPr txBox="1">
            <a:spLocks noChangeArrowheads="1"/>
          </p:cNvSpPr>
          <p:nvPr/>
        </p:nvSpPr>
        <p:spPr bwMode="auto">
          <a:xfrm>
            <a:off x="7586663" y="2503488"/>
            <a:ext cx="11763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10000</a:t>
            </a:r>
          </a:p>
        </p:txBody>
      </p:sp>
      <p:sp>
        <p:nvSpPr>
          <p:cNvPr id="42046" name="Text Box 62"/>
          <p:cNvSpPr txBox="1">
            <a:spLocks noChangeArrowheads="1"/>
          </p:cNvSpPr>
          <p:nvPr/>
        </p:nvSpPr>
        <p:spPr bwMode="auto">
          <a:xfrm>
            <a:off x="7696200" y="3276600"/>
            <a:ext cx="977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1000</a:t>
            </a:r>
          </a:p>
        </p:txBody>
      </p:sp>
      <p:sp>
        <p:nvSpPr>
          <p:cNvPr id="42047" name="Text Box 63"/>
          <p:cNvSpPr txBox="1">
            <a:spLocks noChangeArrowheads="1"/>
          </p:cNvSpPr>
          <p:nvPr/>
        </p:nvSpPr>
        <p:spPr bwMode="auto">
          <a:xfrm>
            <a:off x="7708900" y="3962400"/>
            <a:ext cx="977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3000</a:t>
            </a:r>
          </a:p>
        </p:txBody>
      </p:sp>
      <p:sp>
        <p:nvSpPr>
          <p:cNvPr id="42049" name="Text Box 65"/>
          <p:cNvSpPr txBox="1">
            <a:spLocks noChangeArrowheads="1"/>
          </p:cNvSpPr>
          <p:nvPr/>
        </p:nvSpPr>
        <p:spPr bwMode="auto">
          <a:xfrm>
            <a:off x="7831138" y="3276600"/>
            <a:ext cx="7794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250</a:t>
            </a:r>
          </a:p>
        </p:txBody>
      </p:sp>
      <p:sp>
        <p:nvSpPr>
          <p:cNvPr id="42051" name="Text Box 67"/>
          <p:cNvSpPr txBox="1">
            <a:spLocks noChangeArrowheads="1"/>
          </p:cNvSpPr>
          <p:nvPr/>
        </p:nvSpPr>
        <p:spPr bwMode="auto">
          <a:xfrm>
            <a:off x="7831138" y="3962400"/>
            <a:ext cx="7794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250</a:t>
            </a:r>
          </a:p>
        </p:txBody>
      </p:sp>
      <p:sp>
        <p:nvSpPr>
          <p:cNvPr id="42052" name="Text Box 68"/>
          <p:cNvSpPr txBox="1">
            <a:spLocks noChangeArrowheads="1"/>
          </p:cNvSpPr>
          <p:nvPr/>
        </p:nvSpPr>
        <p:spPr bwMode="auto">
          <a:xfrm>
            <a:off x="7696200" y="2514600"/>
            <a:ext cx="977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8250</a:t>
            </a:r>
          </a:p>
        </p:txBody>
      </p:sp>
      <p:sp>
        <p:nvSpPr>
          <p:cNvPr id="42053" name="Text Box 69"/>
          <p:cNvSpPr txBox="1">
            <a:spLocks noChangeArrowheads="1"/>
          </p:cNvSpPr>
          <p:nvPr/>
        </p:nvSpPr>
        <p:spPr bwMode="auto">
          <a:xfrm>
            <a:off x="7772400" y="2514600"/>
            <a:ext cx="977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5250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4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4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4" dur="500"/>
                                        <p:tgtEl>
                                          <p:spTgt spid="4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8" dur="500"/>
                                        <p:tgtEl>
                                          <p:spTgt spid="4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45" grpId="0"/>
      <p:bldP spid="42046" grpId="0"/>
      <p:bldP spid="42047" grpId="0"/>
      <p:bldP spid="42049" grpId="0"/>
      <p:bldP spid="42051" grpId="0"/>
      <p:bldP spid="42052" grpId="0"/>
      <p:bldP spid="42052" grpId="1"/>
      <p:bldP spid="420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457200" y="274638"/>
            <a:ext cx="8229600" cy="6340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marR="0" lvl="0" indent="-342900" algn="ctr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4400" dirty="0" err="1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Dijkstra's</a:t>
            </a:r>
            <a:r>
              <a:rPr lang="en-US" altLang="zh-CN" sz="44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 Algorithm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1560" y="1196752"/>
            <a:ext cx="854028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00" dirty="0" err="1" smtClean="0"/>
              <a:t>Dijkstra</a:t>
            </a:r>
            <a:r>
              <a:rPr lang="zh-CN" altLang="en-US" sz="2600" dirty="0" smtClean="0"/>
              <a:t>算法也适用于无向图。但不适用于有负权边的图。</a:t>
            </a:r>
            <a:endParaRPr lang="en-US" altLang="zh-CN" sz="2600" dirty="0" smtClean="0"/>
          </a:p>
          <a:p>
            <a:endParaRPr lang="zh-CN" altLang="en-US" dirty="0"/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4575448" y="2124472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4575448" y="5782072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3</a:t>
            </a:r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5870848" y="3800872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4355976" y="3861048"/>
            <a:ext cx="3722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/>
              <a:t>-2</a:t>
            </a:r>
            <a:endParaRPr lang="en-US" altLang="zh-CN" dirty="0"/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5724128" y="278092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 smtClean="0"/>
              <a:t>3</a:t>
            </a:r>
            <a:endParaRPr lang="en-US" altLang="zh-CN" dirty="0"/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5724128" y="501317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 smtClean="0"/>
              <a:t>4</a:t>
            </a:r>
            <a:endParaRPr lang="en-US" altLang="zh-CN" dirty="0"/>
          </a:p>
        </p:txBody>
      </p:sp>
      <p:cxnSp>
        <p:nvCxnSpPr>
          <p:cNvPr id="30" name="直接连接符 29"/>
          <p:cNvCxnSpPr>
            <a:stCxn id="8" idx="5"/>
          </p:cNvCxnSpPr>
          <p:nvPr/>
        </p:nvCxnSpPr>
        <p:spPr>
          <a:xfrm>
            <a:off x="5030733" y="2579757"/>
            <a:ext cx="981427" cy="1209283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>
            <a:off x="5076056" y="4293096"/>
            <a:ext cx="1008112" cy="1512168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endCxn id="9" idx="0"/>
          </p:cNvCxnSpPr>
          <p:nvPr/>
        </p:nvCxnSpPr>
        <p:spPr>
          <a:xfrm flipH="1">
            <a:off x="4842148" y="2708920"/>
            <a:ext cx="17884" cy="3073152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03713" y="2636912"/>
            <a:ext cx="324820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dirty="0" smtClean="0"/>
              <a:t>d[1,2] = 2 </a:t>
            </a:r>
          </a:p>
          <a:p>
            <a:endParaRPr lang="en-US" altLang="zh-CN" sz="2600" dirty="0" smtClean="0"/>
          </a:p>
          <a:p>
            <a:r>
              <a:rPr lang="zh-CN" altLang="en-US" sz="2600" dirty="0" smtClean="0"/>
              <a:t>但用</a:t>
            </a:r>
            <a:r>
              <a:rPr lang="en-US" altLang="zh-CN" sz="2600" dirty="0" err="1" smtClean="0"/>
              <a:t>Dijkstra</a:t>
            </a:r>
            <a:r>
              <a:rPr lang="zh-CN" altLang="en-US" sz="2600" dirty="0" smtClean="0"/>
              <a:t>算法求得 </a:t>
            </a:r>
            <a:r>
              <a:rPr lang="en-US" altLang="zh-CN" sz="2600" dirty="0" smtClean="0"/>
              <a:t>d[1,2] = 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457200" y="274638"/>
            <a:ext cx="8229600" cy="6340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marR="0" lvl="0" indent="-342900" algn="ctr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44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POJ3159 Candies</a:t>
            </a:r>
            <a:endParaRPr lang="en-US" altLang="zh-CN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142844" y="1000108"/>
            <a:ext cx="885825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有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个孩子（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N&lt;=3000)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分糖果。有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M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个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关系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(M&lt;=150000)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。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每个关系形如：</a:t>
            </a:r>
          </a:p>
          <a:p>
            <a:endParaRPr lang="en-US" altLang="zh-CN" sz="22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A 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B C </a:t>
            </a:r>
          </a:p>
          <a:p>
            <a:endParaRPr lang="en-US" altLang="zh-CN" sz="22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表示第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个学生比第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个学生多分到的糖果数目，不能超过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C</a:t>
            </a:r>
          </a:p>
          <a:p>
            <a:endParaRPr lang="en-US" altLang="zh-CN" sz="22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求第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个学生最多比第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个学生能多分几个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糖果</a:t>
            </a:r>
            <a:endParaRPr lang="en-US" altLang="zh-CN" sz="2200" dirty="0" smtClean="0">
              <a:latin typeface="楷体" pitchFamily="49" charset="-122"/>
              <a:ea typeface="楷体" pitchFamily="49" charset="-122"/>
            </a:endParaRPr>
          </a:p>
          <a:p>
            <a:endParaRPr lang="en-US" altLang="zh-CN" sz="2200" dirty="0" smtClean="0">
              <a:latin typeface="宋体" pitchFamily="2" charset="-122"/>
              <a:ea typeface="宋体" pitchFamily="2" charset="-122"/>
            </a:endParaRPr>
          </a:p>
          <a:p>
            <a:endParaRPr lang="en-US" altLang="zh-CN" sz="2200" dirty="0" smtClean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457200" y="274638"/>
            <a:ext cx="8229600" cy="6340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marR="0" lvl="0" indent="-342900" algn="ctr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44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POJ3159 Candies</a:t>
            </a:r>
            <a:endParaRPr lang="en-US" altLang="zh-CN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142844" y="1000108"/>
            <a:ext cx="8858250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有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个孩子（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N&lt;=3000)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分糖果。有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M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个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关系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(M&lt;=150000)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。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每个关系形如：</a:t>
            </a:r>
          </a:p>
          <a:p>
            <a:endParaRPr lang="en-US" altLang="zh-CN" sz="22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A 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B C </a:t>
            </a:r>
          </a:p>
          <a:p>
            <a:endParaRPr lang="en-US" altLang="zh-CN" sz="22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表示第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个学生比第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个学生多分到的糖果数目，不能超过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C</a:t>
            </a:r>
          </a:p>
          <a:p>
            <a:endParaRPr lang="en-US" altLang="zh-CN" sz="22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求第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个学生最多比第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个学生能多分几个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糖果</a:t>
            </a:r>
            <a:endParaRPr lang="en-US" altLang="zh-CN" sz="2200" dirty="0" smtClean="0">
              <a:latin typeface="楷体" pitchFamily="49" charset="-122"/>
              <a:ea typeface="楷体" pitchFamily="49" charset="-122"/>
            </a:endParaRPr>
          </a:p>
          <a:p>
            <a:endParaRPr lang="en-US" altLang="zh-CN" sz="2200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200" dirty="0" smtClean="0">
                <a:latin typeface="宋体" pitchFamily="2" charset="-122"/>
                <a:ea typeface="宋体" pitchFamily="2" charset="-122"/>
              </a:rPr>
              <a:t>思路：</a:t>
            </a:r>
            <a:r>
              <a:rPr lang="en-US" altLang="zh-CN" sz="2200" dirty="0" smtClean="0">
                <a:latin typeface="宋体" pitchFamily="2" charset="-122"/>
                <a:ea typeface="宋体" pitchFamily="2" charset="-122"/>
              </a:rPr>
              <a:t>30000</a:t>
            </a:r>
            <a:r>
              <a:rPr lang="zh-CN" altLang="en-US" sz="2200" dirty="0" smtClean="0">
                <a:latin typeface="宋体" pitchFamily="2" charset="-122"/>
                <a:ea typeface="宋体" pitchFamily="2" charset="-122"/>
              </a:rPr>
              <a:t>点，</a:t>
            </a:r>
            <a:r>
              <a:rPr lang="en-US" altLang="zh-CN" sz="2200" dirty="0" smtClean="0">
                <a:latin typeface="宋体" pitchFamily="2" charset="-122"/>
                <a:ea typeface="宋体" pitchFamily="2" charset="-122"/>
              </a:rPr>
              <a:t>150000</a:t>
            </a:r>
            <a:r>
              <a:rPr lang="zh-CN" altLang="en-US" sz="2200" dirty="0" smtClean="0">
                <a:latin typeface="宋体" pitchFamily="2" charset="-122"/>
                <a:ea typeface="宋体" pitchFamily="2" charset="-122"/>
              </a:rPr>
              <a:t>边的稀疏图</a:t>
            </a:r>
            <a:r>
              <a:rPr lang="zh-CN" altLang="en-US" sz="2200" dirty="0" smtClean="0">
                <a:latin typeface="宋体" pitchFamily="2" charset="-122"/>
                <a:ea typeface="宋体" pitchFamily="2" charset="-122"/>
              </a:rPr>
              <a:t>求单源最短路</a:t>
            </a:r>
            <a:endParaRPr lang="en-US" altLang="zh-CN" sz="2200" dirty="0" smtClean="0">
              <a:latin typeface="宋体" pitchFamily="2" charset="-122"/>
              <a:ea typeface="宋体" pitchFamily="2" charset="-122"/>
            </a:endParaRPr>
          </a:p>
          <a:p>
            <a:endParaRPr lang="en-US" altLang="zh-CN" sz="2200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200" dirty="0" smtClean="0">
                <a:latin typeface="宋体" pitchFamily="2" charset="-122"/>
                <a:ea typeface="宋体" pitchFamily="2" charset="-122"/>
              </a:rPr>
              <a:t>读入  </a:t>
            </a:r>
            <a:r>
              <a:rPr lang="en-US" altLang="zh-CN" sz="2200" dirty="0" smtClean="0">
                <a:latin typeface="宋体" pitchFamily="2" charset="-122"/>
                <a:ea typeface="宋体" pitchFamily="2" charset="-122"/>
              </a:rPr>
              <a:t>“A B C”</a:t>
            </a:r>
            <a:r>
              <a:rPr lang="zh-CN" altLang="en-US" sz="2200" dirty="0" smtClean="0">
                <a:latin typeface="宋体" pitchFamily="2" charset="-122"/>
                <a:ea typeface="宋体" pitchFamily="2" charset="-122"/>
              </a:rPr>
              <a:t>，就添加</a:t>
            </a:r>
            <a:r>
              <a:rPr lang="en-US" altLang="zh-CN" sz="2200" dirty="0" smtClean="0">
                <a:latin typeface="宋体" pitchFamily="2" charset="-122"/>
                <a:ea typeface="宋体" pitchFamily="2" charset="-122"/>
              </a:rPr>
              <a:t>A-&gt;B</a:t>
            </a:r>
            <a:r>
              <a:rPr lang="zh-CN" altLang="en-US" sz="2200" dirty="0" smtClean="0">
                <a:latin typeface="宋体" pitchFamily="2" charset="-122"/>
                <a:ea typeface="宋体" pitchFamily="2" charset="-122"/>
              </a:rPr>
              <a:t>的有向边，权值为</a:t>
            </a:r>
            <a:r>
              <a:rPr lang="en-US" altLang="zh-CN" sz="2200" dirty="0" smtClean="0">
                <a:latin typeface="宋体" pitchFamily="2" charset="-122"/>
                <a:ea typeface="宋体" pitchFamily="2" charset="-122"/>
              </a:rPr>
              <a:t>C</a:t>
            </a:r>
          </a:p>
          <a:p>
            <a:endParaRPr lang="en-US" altLang="zh-CN" sz="2200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200" dirty="0" smtClean="0">
                <a:latin typeface="宋体" pitchFamily="2" charset="-122"/>
                <a:ea typeface="宋体" pitchFamily="2" charset="-122"/>
              </a:rPr>
              <a:t>然后求</a:t>
            </a:r>
            <a:r>
              <a:rPr lang="en-US" altLang="zh-CN" sz="2200" dirty="0" smtClean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sz="2200" dirty="0" smtClean="0">
                <a:latin typeface="宋体" pitchFamily="2" charset="-122"/>
                <a:ea typeface="宋体" pitchFamily="2" charset="-122"/>
              </a:rPr>
              <a:t>到</a:t>
            </a:r>
            <a:r>
              <a:rPr lang="en-US" altLang="zh-CN" sz="2200" dirty="0" smtClean="0">
                <a:latin typeface="宋体" pitchFamily="2" charset="-122"/>
                <a:ea typeface="宋体" pitchFamily="2" charset="-122"/>
              </a:rPr>
              <a:t>N</a:t>
            </a:r>
            <a:r>
              <a:rPr lang="zh-CN" altLang="en-US" sz="2200" dirty="0" smtClean="0">
                <a:latin typeface="宋体" pitchFamily="2" charset="-122"/>
                <a:ea typeface="宋体" pitchFamily="2" charset="-122"/>
              </a:rPr>
              <a:t>的最短路</a:t>
            </a:r>
            <a:endParaRPr lang="en-US" altLang="zh-CN" sz="2200" dirty="0" smtClean="0">
              <a:latin typeface="宋体" pitchFamily="2" charset="-122"/>
              <a:ea typeface="宋体" pitchFamily="2" charset="-122"/>
            </a:endParaRPr>
          </a:p>
          <a:p>
            <a:endParaRPr lang="zh-CN" altLang="en-US" sz="2200" dirty="0" smtClean="0">
              <a:latin typeface="宋体" pitchFamily="2" charset="-122"/>
              <a:ea typeface="宋体" pitchFamily="2" charset="-122"/>
            </a:endParaRPr>
          </a:p>
          <a:p>
            <a:endParaRPr lang="en-US" altLang="zh-CN" sz="2200" dirty="0" smtClean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4313" y="142875"/>
            <a:ext cx="87154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srgbClr val="7030A0"/>
                </a:solidFill>
                <a:latin typeface="+mj-lt"/>
                <a:ea typeface="隶书" pitchFamily="49" charset="-122"/>
              </a:rPr>
              <a:t>用</a:t>
            </a:r>
            <a:r>
              <a:rPr lang="en-US" altLang="zh-CN" sz="2000" dirty="0" err="1">
                <a:solidFill>
                  <a:srgbClr val="7030A0"/>
                </a:solidFill>
                <a:latin typeface="+mj-lt"/>
                <a:ea typeface="隶书" pitchFamily="49" charset="-122"/>
              </a:rPr>
              <a:t>prioirty_queue</a:t>
            </a:r>
            <a:r>
              <a:rPr lang="zh-CN" altLang="en-US" sz="2000" dirty="0">
                <a:solidFill>
                  <a:srgbClr val="7030A0"/>
                </a:solidFill>
                <a:latin typeface="+mj-lt"/>
                <a:ea typeface="隶书" pitchFamily="49" charset="-122"/>
              </a:rPr>
              <a:t>实现 </a:t>
            </a:r>
            <a:r>
              <a:rPr lang="en-US" altLang="zh-CN" sz="2000" dirty="0" err="1">
                <a:solidFill>
                  <a:srgbClr val="7030A0"/>
                </a:solidFill>
                <a:latin typeface="+mj-lt"/>
                <a:ea typeface="隶书" pitchFamily="49" charset="-122"/>
              </a:rPr>
              <a:t>dijkstra</a:t>
            </a:r>
            <a:r>
              <a:rPr lang="en-US" altLang="zh-CN" sz="2000" dirty="0">
                <a:solidFill>
                  <a:srgbClr val="7030A0"/>
                </a:solidFill>
                <a:latin typeface="+mj-lt"/>
                <a:ea typeface="隶书" pitchFamily="49" charset="-122"/>
              </a:rPr>
              <a:t> + </a:t>
            </a:r>
            <a:r>
              <a:rPr lang="zh-CN" altLang="en-US" sz="2000" dirty="0">
                <a:solidFill>
                  <a:srgbClr val="7030A0"/>
                </a:solidFill>
                <a:latin typeface="+mj-lt"/>
                <a:ea typeface="隶书" pitchFamily="49" charset="-122"/>
              </a:rPr>
              <a:t>堆的 </a:t>
            </a:r>
            <a:r>
              <a:rPr lang="en-US" altLang="zh-CN" sz="2000" dirty="0">
                <a:solidFill>
                  <a:srgbClr val="7030A0"/>
                </a:solidFill>
                <a:latin typeface="+mj-lt"/>
                <a:ea typeface="隶书" pitchFamily="49" charset="-122"/>
              </a:rPr>
              <a:t>POJ 3159 </a:t>
            </a:r>
            <a:r>
              <a:rPr lang="en-US" altLang="zh-CN" sz="2000" dirty="0" smtClean="0">
                <a:solidFill>
                  <a:srgbClr val="7030A0"/>
                </a:solidFill>
                <a:latin typeface="+mj-lt"/>
                <a:ea typeface="隶书" pitchFamily="49" charset="-122"/>
              </a:rPr>
              <a:t>Candies</a:t>
            </a:r>
            <a:endParaRPr lang="en-US" altLang="zh-CN" sz="2000" dirty="0">
              <a:solidFill>
                <a:srgbClr val="7030A0"/>
              </a:solidFill>
              <a:latin typeface="+mj-lt"/>
              <a:ea typeface="隶书" pitchFamily="49" charset="-122"/>
            </a:endParaRPr>
          </a:p>
        </p:txBody>
      </p:sp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142844" y="671691"/>
            <a:ext cx="8858250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//by guo wei</a:t>
            </a:r>
          </a:p>
          <a:p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#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include </a:t>
            </a:r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&lt;</a:t>
            </a:r>
            <a:r>
              <a:rPr lang="en-US" altLang="zh-CN" dirty="0" err="1" smtClean="0">
                <a:latin typeface="Franklin Gothic Book" pitchFamily="34" charset="0"/>
                <a:ea typeface="黑体" pitchFamily="49" charset="-122"/>
              </a:rPr>
              <a:t>cstdio</a:t>
            </a:r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&gt;</a:t>
            </a:r>
            <a:endParaRPr lang="en-US" altLang="zh-CN" dirty="0">
              <a:latin typeface="Franklin Gothic Book" pitchFamily="34" charset="0"/>
              <a:ea typeface="黑体" pitchFamily="49" charset="-122"/>
            </a:endParaRP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#include &lt;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iostream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&gt;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#include &lt;vector&gt;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#include &lt;queue</a:t>
            </a:r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&gt;</a:t>
            </a:r>
          </a:p>
          <a:p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#include &lt;</a:t>
            </a:r>
            <a:r>
              <a:rPr lang="en-US" altLang="zh-CN" dirty="0" err="1" smtClean="0">
                <a:latin typeface="Franklin Gothic Book" pitchFamily="34" charset="0"/>
                <a:ea typeface="黑体" pitchFamily="49" charset="-122"/>
              </a:rPr>
              <a:t>cstring</a:t>
            </a:r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&gt;</a:t>
            </a:r>
            <a:endParaRPr lang="en-US" altLang="zh-CN" dirty="0">
              <a:latin typeface="Franklin Gothic Book" pitchFamily="34" charset="0"/>
              <a:ea typeface="黑体" pitchFamily="49" charset="-122"/>
            </a:endParaRP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using namespace std;</a:t>
            </a:r>
          </a:p>
          <a:p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struct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CNode</a:t>
            </a:r>
            <a:endParaRPr lang="en-US" altLang="zh-CN" dirty="0">
              <a:latin typeface="Franklin Gothic Book" pitchFamily="34" charset="0"/>
              <a:ea typeface="黑体" pitchFamily="49" charset="-122"/>
            </a:endParaRP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{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int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k</a:t>
            </a:r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;  //</a:t>
            </a:r>
            <a:r>
              <a:rPr lang="zh-CN" altLang="en-US" dirty="0" smtClean="0">
                <a:latin typeface="Franklin Gothic Book" pitchFamily="34" charset="0"/>
                <a:ea typeface="黑体" pitchFamily="49" charset="-122"/>
              </a:rPr>
              <a:t>端点</a:t>
            </a:r>
            <a:endParaRPr lang="en-US" altLang="zh-CN" dirty="0">
              <a:latin typeface="Franklin Gothic Book" pitchFamily="34" charset="0"/>
              <a:ea typeface="黑体" pitchFamily="49" charset="-122"/>
            </a:endParaRP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int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w</a:t>
            </a:r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; </a:t>
            </a:r>
            <a:r>
              <a:rPr lang="en-US" altLang="zh-CN" dirty="0" smtClean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//</a:t>
            </a:r>
            <a:r>
              <a:rPr lang="zh-CN" altLang="en-US" dirty="0" smtClean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权值，或</a:t>
            </a:r>
            <a:r>
              <a:rPr lang="en-US" altLang="zh-CN" dirty="0" smtClean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k</a:t>
            </a:r>
            <a:r>
              <a:rPr lang="zh-CN" altLang="en-US" dirty="0" smtClean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到已经求出最短路的那些点的最短距离</a:t>
            </a:r>
            <a:endParaRPr lang="en-US" altLang="zh-CN" dirty="0">
              <a:solidFill>
                <a:srgbClr val="00B050"/>
              </a:solidFill>
              <a:latin typeface="Franklin Gothic Book" pitchFamily="34" charset="0"/>
              <a:ea typeface="黑体" pitchFamily="49" charset="-122"/>
            </a:endParaRP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};</a:t>
            </a:r>
          </a:p>
          <a:p>
            <a:r>
              <a:rPr lang="en-US" altLang="zh-CN" dirty="0" err="1" smtClean="0">
                <a:latin typeface="Franklin Gothic Book" pitchFamily="34" charset="0"/>
                <a:ea typeface="黑体" pitchFamily="49" charset="-122"/>
              </a:rPr>
              <a:t>bool</a:t>
            </a:r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 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operator &lt; ( const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CNode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&amp; d1, const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CNode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&amp; d2 ) {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return d1.w &gt; d2.w;   </a:t>
            </a:r>
            <a:r>
              <a:rPr lang="en-US" altLang="zh-CN" dirty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//</a:t>
            </a:r>
            <a:r>
              <a:rPr lang="en-US" altLang="zh-CN" dirty="0" err="1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priority_queue</a:t>
            </a:r>
            <a:r>
              <a:rPr lang="zh-CN" altLang="en-US" dirty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总是将最大的元素出列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}</a:t>
            </a:r>
          </a:p>
          <a:p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int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aDist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[30010];</a:t>
            </a:r>
          </a:p>
          <a:p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priority_queue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&lt;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CNode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&gt;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pq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;</a:t>
            </a:r>
          </a:p>
          <a:p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bool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bUsed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[30010]={0};</a:t>
            </a:r>
          </a:p>
          <a:p>
            <a:r>
              <a:rPr lang="en-US" altLang="zh-CN" dirty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//vector&lt;</a:t>
            </a:r>
            <a:r>
              <a:rPr lang="en-US" altLang="zh-CN" dirty="0" err="1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CNode</a:t>
            </a:r>
            <a:r>
              <a:rPr lang="en-US" altLang="zh-CN" dirty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&gt; v[30010];  error,</a:t>
            </a:r>
            <a:r>
              <a:rPr lang="zh-CN" altLang="en-US" dirty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如果用这个，则在</a:t>
            </a:r>
            <a:r>
              <a:rPr lang="en-US" altLang="zh-CN" dirty="0" err="1" smtClean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poj</a:t>
            </a:r>
            <a:r>
              <a:rPr lang="zh-CN" altLang="en-US" dirty="0" smtClean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会</a:t>
            </a:r>
            <a:r>
              <a:rPr lang="zh-CN" altLang="en-US" dirty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超时。说明</a:t>
            </a:r>
            <a:r>
              <a:rPr lang="en-US" altLang="zh-CN" dirty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vector</a:t>
            </a:r>
            <a:r>
              <a:rPr lang="zh-CN" altLang="en-US" dirty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对象的初始化，也是需要可观时间的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vector&lt;vector&lt;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CNode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&gt; &gt; v;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const unsigned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int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INFINITE = 100000000</a:t>
            </a:r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;</a:t>
            </a:r>
            <a:endParaRPr lang="zh-CN" altLang="en-US" dirty="0">
              <a:latin typeface="Franklin Gothic Book" pitchFamily="34" charset="0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142844" y="214290"/>
            <a:ext cx="8858250" cy="6463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 err="1" smtClean="0">
                <a:latin typeface="Franklin Gothic Book" pitchFamily="34" charset="0"/>
                <a:ea typeface="黑体" pitchFamily="49" charset="-122"/>
              </a:rPr>
              <a:t>int</a:t>
            </a:r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 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main()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{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int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N,M,a,b,c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int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i,j,k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;</a:t>
            </a:r>
          </a:p>
          <a:p>
            <a:endParaRPr lang="en-US" altLang="zh-CN" dirty="0">
              <a:latin typeface="Franklin Gothic Book" pitchFamily="34" charset="0"/>
              <a:ea typeface="黑体" pitchFamily="49" charset="-122"/>
            </a:endParaRP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CNode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p, q;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scanf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("%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d%d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", &amp; N, &amp; M );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v.clear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();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v.resize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(N+1);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memset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( bUsed,0,sizeof(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bUsed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));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for(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= 1;i &lt;= M;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++ ) {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scanf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("%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d%d%d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", &amp; a, &amp; b, &amp; c);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p.k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= b;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p.w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= c;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v[a].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push_back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( p);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}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p.k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= 1;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p.w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= 0;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pq.push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( p</a:t>
            </a:r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);</a:t>
            </a:r>
            <a:endParaRPr lang="zh-CN" altLang="en-US" dirty="0">
              <a:latin typeface="Franklin Gothic Book" pitchFamily="34" charset="0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142844" y="214290"/>
            <a:ext cx="885825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while( !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pq.empty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()) {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p =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pq.top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();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pq.pop();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if(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bUsed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[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p.k</a:t>
            </a:r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]) </a:t>
            </a:r>
            <a:r>
              <a:rPr lang="en-US" altLang="zh-CN" dirty="0" smtClean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 //</a:t>
            </a:r>
            <a:r>
              <a:rPr lang="zh-CN" altLang="en-US" dirty="0" smtClean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已经求出了最短路</a:t>
            </a:r>
            <a:endParaRPr lang="en-US" altLang="zh-CN" dirty="0">
              <a:solidFill>
                <a:srgbClr val="00B050"/>
              </a:solidFill>
              <a:latin typeface="Franklin Gothic Book" pitchFamily="34" charset="0"/>
              <a:ea typeface="黑体" pitchFamily="49" charset="-122"/>
            </a:endParaRP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	continue;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bUsed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[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p.k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] = true;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if(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p.k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== N ) 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	break;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for(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= 0, j = v[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p.k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].size();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&lt; j;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++ ) {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q.k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= v[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p.k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][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].k; 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	if(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bUsed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[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q.k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] )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		continue;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q.w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=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p.w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+ v[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p.k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][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i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].w 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pq.push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( q</a:t>
            </a:r>
            <a:r>
              <a:rPr lang="en-US" altLang="zh-CN" dirty="0" smtClean="0">
                <a:latin typeface="Franklin Gothic Book" pitchFamily="34" charset="0"/>
                <a:ea typeface="黑体" pitchFamily="49" charset="-122"/>
              </a:rPr>
              <a:t>);</a:t>
            </a:r>
            <a:r>
              <a:rPr lang="en-US" altLang="zh-CN" dirty="0" smtClean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 //</a:t>
            </a:r>
            <a:r>
              <a:rPr lang="zh-CN" altLang="en-US" dirty="0" smtClean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队列里面已经有</a:t>
            </a:r>
            <a:r>
              <a:rPr lang="en-US" altLang="zh-CN" dirty="0" err="1" smtClean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q.k</a:t>
            </a:r>
            <a:r>
              <a:rPr lang="zh-CN" altLang="en-US" dirty="0" smtClean="0">
                <a:solidFill>
                  <a:srgbClr val="00B050"/>
                </a:solidFill>
                <a:latin typeface="Franklin Gothic Book" pitchFamily="34" charset="0"/>
                <a:ea typeface="黑体" pitchFamily="49" charset="-122"/>
              </a:rPr>
              <a:t>点也没关系</a:t>
            </a:r>
            <a:endParaRPr lang="en-US" altLang="zh-CN" dirty="0">
              <a:solidFill>
                <a:srgbClr val="00B050"/>
              </a:solidFill>
              <a:latin typeface="Franklin Gothic Book" pitchFamily="34" charset="0"/>
              <a:ea typeface="黑体" pitchFamily="49" charset="-122"/>
            </a:endParaRP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	}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}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printf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("%d", </a:t>
            </a:r>
            <a:r>
              <a:rPr lang="en-US" altLang="zh-CN" dirty="0" err="1">
                <a:latin typeface="Franklin Gothic Book" pitchFamily="34" charset="0"/>
                <a:ea typeface="黑体" pitchFamily="49" charset="-122"/>
              </a:rPr>
              <a:t>p.w</a:t>
            </a:r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 ) ; 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	return 0;</a:t>
            </a:r>
          </a:p>
          <a:p>
            <a:r>
              <a:rPr lang="en-US" altLang="zh-CN" dirty="0">
                <a:latin typeface="Franklin Gothic Book" pitchFamily="34" charset="0"/>
                <a:ea typeface="黑体" pitchFamily="49" charset="-122"/>
              </a:rPr>
              <a:t>}</a:t>
            </a:r>
            <a:endParaRPr lang="zh-CN" altLang="en-US" dirty="0">
              <a:latin typeface="Franklin Gothic Book" pitchFamily="34" charset="0"/>
              <a:ea typeface="黑体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473</Words>
  <Application>Microsoft Office PowerPoint</Application>
  <PresentationFormat>全屏显示(4:3)</PresentationFormat>
  <Paragraphs>140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Dijkstra's Algorithm</vt:lpstr>
      <vt:lpstr>Dijkstra's Algorithm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</dc:title>
  <dc:creator>guowei</dc:creator>
  <cp:lastModifiedBy>guowei</cp:lastModifiedBy>
  <cp:revision>8</cp:revision>
  <dcterms:created xsi:type="dcterms:W3CDTF">2013-07-14T17:05:57Z</dcterms:created>
  <dcterms:modified xsi:type="dcterms:W3CDTF">2014-07-21T22:01:57Z</dcterms:modified>
</cp:coreProperties>
</file>